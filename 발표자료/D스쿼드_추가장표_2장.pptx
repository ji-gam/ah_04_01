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8" r:id="rId31"/>
    <p:sldId id="359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161" d="100"/>
          <a:sy n="161" d="100"/>
        </p:scale>
        <p:origin x="308" y="76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?><Relationships xmlns="http://schemas.openxmlformats.org/package/2006/relationships"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30" Type="http://schemas.openxmlformats.org/officeDocument/2006/relationships/tableStyles" Target="tableStyles.xml"/>  <Relationship Id="rId31" Type="http://schemas.openxmlformats.org/officeDocument/2006/relationships/slide" Target="slides/slide26.xml"/>
  <Relationship Id="rId32" Type="http://schemas.openxmlformats.org/officeDocument/2006/relationships/slide" Target="slides/slide27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E8E3A2E-1BAF-46D3-7BEB-B138289565DE}"/>
              </a:ext>
            </a:extLst>
          </p:cNvPr>
          <p:cNvSpPr/>
          <p:nvPr userDrawn="1"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3F9E-8D1A-CE6F-F02E-4A2C485B307D}"/>
              </a:ext>
            </a:extLst>
          </p:cNvPr>
          <p:cNvSpPr txBox="1"/>
          <p:nvPr userDrawn="1"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2024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년도 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프로젝트평가 훈련기관 신청안내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8DCB8-9B75-7CF9-7713-9B5345DBB23B}"/>
              </a:ext>
            </a:extLst>
          </p:cNvPr>
          <p:cNvSpPr txBox="1"/>
          <p:nvPr userDrawn="1"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0" eaLnBrk="1" latinLnBrk="1" hangingPunct="1"/>
            <a:fld id="{5426B8F6-3B26-4B2F-9C3C-1E76C1EF5307}" type="slidenum">
              <a:rPr lang="ko-KR" altLang="en-US" sz="1000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pPr marL="0" algn="r" defTabSz="914400" rtl="0" eaLnBrk="1" latinLnBrk="1" hangingPunct="1"/>
              <a:t>‹#›</a:t>
            </a:fld>
            <a:endParaRPr lang="ko-KR" altLang="en-US" sz="1000" kern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3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3.png"/><Relationship Id="rId4" Type="http://schemas.openxmlformats.org/officeDocument/2006/relationships/image" Target="../media/image38.png"/></Relationships>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3.png"/><Relationship Id="rId4" Type="http://schemas.openxmlformats.org/officeDocument/2006/relationships/image" Target="../media/image38.png"/></Relationships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latinLnBrk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defRPr/>
              </a:pPr>
              <a:r>
                <a:rPr sz="2400" b="1" i="0">
                  <a:solidFill>
                    <a:srgbClr val="1F3864"/>
                  </a:solidFill>
                  <a:latin typeface="맑은 고딕"/>
                  <a:ea typeface="맑은 고딕"/>
                  <a:cs typeface="맑은 고딕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algn="l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defRPr/>
              </a:pPr>
              <a:r>
                <a:rPr sz="4000" b="1" i="0">
                  <a:solidFill>
                    <a:srgbClr val="A9C6E8"/>
                  </a:solidFill>
                  <a:latin typeface="맑은 고딕"/>
                  <a:ea typeface="맑은 고딕"/>
                  <a:cs typeface="맑은 고딕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latinLnBrk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defRPr/>
              </a:pPr>
              <a:r>
                <a:rPr sz="1500" b="1" i="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LLM이 지어내던 건강 팁을 실제 기사 기반 카드뉴스로 교체하고, 읽어주기로 접근성 확보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378C8"/>
                </a:solidFill>
                <a:latin typeface="맑은 고딕"/>
                <a:ea typeface="맑은 고딕"/>
                <a:cs typeface="맑은 고딕"/>
              </a:rPr>
              <a:t>* 결과 제시 ⑭ 건강정보 카드뉴스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100" name="Rounded Rectangle 99"/>
          <p:cNvSpPr/>
          <p:nvPr/>
        </p:nvSpPr>
        <p:spPr>
          <a:xfrm>
            <a:off x="521207" y="2267712"/>
            <a:ext cx="5436107" cy="201168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722375" y="2404872"/>
            <a:ext cx="274320" cy="274320"/>
          </a:xfrm>
          <a:prstGeom prst="ellipse">
            <a:avLst/>
          </a:prstGeom>
          <a:solidFill>
            <a:srgbClr val="8C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88136" y="2414015"/>
            <a:ext cx="46680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건강 뉴스 수집 · LLM 카드요약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2375" y="2788920"/>
            <a:ext cx="5033771" cy="1399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코메디닷컴 · 헬스경향 · 코리아헬스로그 3개 매체 RSS 자동 수집 (매체당 회차별 상한 5건)</a:t>
            </a:r>
          </a:p>
          <a:p>
            <a:pPr algn="l" latinLnBrk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RSS가 요약만 제공하는 매체는 기사 페이지를 추가 조회해 본문 확보</a:t>
            </a:r>
          </a:p>
          <a:p>
            <a:pPr algn="l" latinLnBrk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기사 1건 → 카드 3~5장으로 자동 변환 (태그 · 핵심수치 · 본문 3~5줄)</a:t>
            </a:r>
          </a:p>
          <a:p>
            <a:pPr algn="l" latinLnBrk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구조화 출력으로 글자수 · 아이콘 강제 — 실측 기사 7건 → 카드 30장, 스키마 위반 0건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231636" y="2267712"/>
            <a:ext cx="5436107" cy="201168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6432803" y="2404872"/>
            <a:ext cx="274320" cy="274320"/>
          </a:xfrm>
          <a:prstGeom prst="ellipse">
            <a:avLst/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98564" y="2414015"/>
            <a:ext cx="46680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기사 읽어주기 (TTS) · 접근성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32803" y="2788920"/>
            <a:ext cx="5033771" cy="1399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브라우저 내장 음성 합성(Web Speech API)으로 기사 원문 읽어주기</a:t>
            </a:r>
          </a:p>
          <a:p>
            <a:pPr algn="l" latinLnBrk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서버 TTS 대비 추가 인프라 · 저장공간 · API 비용이 전혀 없음</a:t>
            </a:r>
          </a:p>
          <a:p>
            <a:pPr algn="l" latinLnBrk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마크다운 기호 · 단위 표기를 음성에 맞게 재생 시점에 전처리 (DB 저장 없음)</a:t>
            </a:r>
          </a:p>
          <a:p>
            <a:pPr algn="l" latinLnBrk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아이폰 사파리의 첫 발화 제약 등 모바일 환경 특성을 설계에 반영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21207" y="4535424"/>
            <a:ext cx="11146536" cy="329184"/>
          </a:xfrm>
          <a:prstGeom prst="roundRect">
            <a:avLst>
              <a:gd name="adj" fmla="val 35000"/>
            </a:avLst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지표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21207" y="5047488"/>
            <a:ext cx="222930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C4A9C"/>
                </a:solidFill>
                <a:latin typeface="맑은 고딕"/>
                <a:ea typeface="맑은 고딕"/>
                <a:cs typeface="맑은 고딕"/>
              </a:rPr>
              <a:t>3개 매체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21207" y="5541264"/>
            <a:ext cx="2229307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뉴스 소스 (RSS 자동 수집)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50515" y="5047488"/>
            <a:ext cx="222930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78C8"/>
                </a:solidFill>
                <a:latin typeface="맑은 고딕"/>
                <a:ea typeface="맑은 고딕"/>
                <a:cs typeface="맑은 고딕"/>
              </a:rPr>
              <a:t>3~5장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750515" y="5541264"/>
            <a:ext cx="2229307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기사당 카드 슬라이드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979822" y="5047488"/>
            <a:ext cx="222930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C4A9C"/>
                </a:solidFill>
                <a:latin typeface="맑은 고딕"/>
                <a:ea typeface="맑은 고딕"/>
                <a:cs typeface="맑은 고딕"/>
              </a:rPr>
              <a:t>30장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979822" y="5541264"/>
            <a:ext cx="2229307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실측 생성 카드 (위반 0건)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09129" y="5047488"/>
            <a:ext cx="222930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78C8"/>
                </a:solidFill>
                <a:latin typeface="맑은 고딕"/>
                <a:ea typeface="맑은 고딕"/>
                <a:cs typeface="맑은 고딕"/>
              </a:rPr>
              <a:t>52종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09129" y="5541264"/>
            <a:ext cx="2229307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카드 아이콘 세트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38436" y="5047488"/>
            <a:ext cx="222930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C4A9C"/>
                </a:solidFill>
                <a:latin typeface="맑은 고딕"/>
                <a:ea typeface="맑은 고딕"/>
                <a:cs typeface="맑은 고딕"/>
              </a:rPr>
              <a:t>0원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438436" y="5541264"/>
            <a:ext cx="2229307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TTS 추가 인프라 · 비용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21207" y="5870448"/>
            <a:ext cx="11146536" cy="566928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22375" y="6007608"/>
            <a:ext cx="10744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22375" y="5989320"/>
            <a:ext cx="10744200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운영 중 대응  ·  수집(3초)과 카드요약(건당 4~5초)을 한 요청에서 처리해 신규 기사가 많은 날 약 50초로 서버 타임아웃(504) 발생 → 수집과 카드요약 API를 분리하고 5건씩 배치 처리로 재설계해 해소</a:t>
            </a:r>
          </a:p>
        </p:txBody>
      </p:sp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latinLnBrk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defRPr/>
              </a:pPr>
              <a:r>
                <a:rPr sz="2400" b="1" i="0">
                  <a:solidFill>
                    <a:srgbClr val="1F3864"/>
                  </a:solidFill>
                  <a:latin typeface="맑은 고딕"/>
                  <a:ea typeface="맑은 고딕"/>
                  <a:cs typeface="맑은 고딕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algn="l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defRPr/>
              </a:pPr>
              <a:r>
                <a:rPr sz="4000" b="1" i="0">
                  <a:solidFill>
                    <a:srgbClr val="A9C6E8"/>
                  </a:solidFill>
                  <a:latin typeface="맑은 고딕"/>
                  <a:ea typeface="맑은 고딕"/>
                  <a:cs typeface="맑은 고딕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latinLnBrk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defRPr/>
              </a:pPr>
              <a:r>
                <a:rPr sz="1500" b="1" i="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사용자 평가를 관측 데이터로 축적하고, 반복 측정으로 답변 일관성을 검증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378C8"/>
                </a:solidFill>
                <a:latin typeface="맑은 고딕"/>
                <a:ea typeface="맑은 고딕"/>
                <a:cs typeface="맑은 고딕"/>
              </a:rPr>
              <a:t>* 결과 제시 ⑮ 피드백 · 일관성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100" name="Rounded Rectangle 99"/>
          <p:cNvSpPr/>
          <p:nvPr/>
        </p:nvSpPr>
        <p:spPr>
          <a:xfrm>
            <a:off x="521207" y="2267712"/>
            <a:ext cx="11146536" cy="329184"/>
          </a:xfrm>
          <a:prstGeom prst="roundRect">
            <a:avLst>
              <a:gd name="adj" fmla="val 35000"/>
            </a:avLst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피드백 → 관측 → 개선 순환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21207" y="2724912"/>
            <a:ext cx="1920240" cy="1737360"/>
          </a:xfrm>
          <a:prstGeom prst="roundRect">
            <a:avLst>
              <a:gd name="adj" fmla="val 8000"/>
            </a:avLst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30936" y="2724912"/>
            <a:ext cx="1700784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사용자 평가</a:t>
            </a:r>
          </a:p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챗봇 답변 👍/👎
추천 이유 피드백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2532888" y="3474720"/>
            <a:ext cx="237744" cy="237744"/>
          </a:xfrm>
          <a:prstGeom prst="rightArrow">
            <a:avLst/>
          </a:prstGeom>
          <a:solidFill>
            <a:srgbClr val="A9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2862072" y="2724912"/>
            <a:ext cx="2286000" cy="173736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971800" y="2724912"/>
            <a:ext cx="2066543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피드백 저장</a:t>
            </a:r>
          </a:p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chat_message_feedbacks
reason_feedback</a:t>
            </a:r>
          </a:p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F8A70"/>
                </a:solidFill>
                <a:latin typeface="맑은 고딕"/>
                <a:ea typeface="맑은 고딕"/>
                <a:cs typeface="맑은 고딕"/>
              </a:rPr>
              <a:t>재평가 시 값 갱신</a:t>
            </a:r>
          </a:p>
        </p:txBody>
      </p:sp>
      <p:sp>
        <p:nvSpPr>
          <p:cNvPr id="106" name="Right Arrow 105"/>
          <p:cNvSpPr/>
          <p:nvPr/>
        </p:nvSpPr>
        <p:spPr>
          <a:xfrm>
            <a:off x="5239512" y="3474720"/>
            <a:ext cx="237744" cy="237744"/>
          </a:xfrm>
          <a:prstGeom prst="rightArrow">
            <a:avLst/>
          </a:prstGeom>
          <a:solidFill>
            <a:srgbClr val="A9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5568696" y="2724912"/>
            <a:ext cx="3108960" cy="173736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678424" y="2816352"/>
            <a:ext cx="2889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Langfuse 관측 연동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733288" y="3145536"/>
            <a:ext cx="1371600" cy="1152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788152" y="3145536"/>
            <a:ext cx="1261872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378C8"/>
                </a:solidFill>
                <a:latin typeface="맑은 고딕"/>
                <a:ea typeface="맑은 고딕"/>
                <a:cs typeface="맑은 고딕"/>
              </a:rPr>
              <a:t>점수 부착</a:t>
            </a:r>
          </a:p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👍 = 1.0
👎 = 0.0</a:t>
            </a:r>
          </a:p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3378C8"/>
                </a:solidFill>
                <a:latin typeface="맑은 고딕"/>
                <a:ea typeface="맑은 고딕"/>
                <a:cs typeface="맑은 고딕"/>
              </a:rPr>
              <a:t>코멘트 포함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41464" y="3145536"/>
            <a:ext cx="1371600" cy="1152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196328" y="3145536"/>
            <a:ext cx="1261872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8C4A9C"/>
                </a:solidFill>
                <a:latin typeface="맑은 고딕"/>
                <a:ea typeface="맑은 고딕"/>
                <a:cs typeface="맑은 고딕"/>
              </a:rPr>
              <a:t>trace 연결</a:t>
            </a:r>
          </a:p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검색 + 생성
전 구간</a:t>
            </a:r>
          </a:p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C4A9C"/>
                </a:solidFill>
                <a:latin typeface="맑은 고딕"/>
                <a:ea typeface="맑은 고딕"/>
                <a:cs typeface="맑은 고딕"/>
              </a:rPr>
              <a:t>chat_turn</a:t>
            </a:r>
          </a:p>
        </p:txBody>
      </p:sp>
      <p:sp>
        <p:nvSpPr>
          <p:cNvPr id="113" name="Right Arrow 112"/>
          <p:cNvSpPr/>
          <p:nvPr/>
        </p:nvSpPr>
        <p:spPr>
          <a:xfrm>
            <a:off x="8769096" y="3474720"/>
            <a:ext cx="237744" cy="237744"/>
          </a:xfrm>
          <a:prstGeom prst="rightArrow">
            <a:avLst/>
          </a:prstGeom>
          <a:solidFill>
            <a:srgbClr val="A9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9098280" y="2724912"/>
            <a:ext cx="2569463" cy="1737360"/>
          </a:xfrm>
          <a:prstGeom prst="roundRect">
            <a:avLst>
              <a:gd name="adj" fmla="val 8000"/>
            </a:avLst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208008" y="2724912"/>
            <a:ext cx="2350008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낮은 점수 → 개선</a:t>
            </a:r>
          </a:p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trace 열어 원인 분리
프롬프트 보강 후 재검증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21207" y="4700016"/>
            <a:ext cx="3569207" cy="1572768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722375" y="4837176"/>
            <a:ext cx="274320" cy="274320"/>
          </a:xfrm>
          <a:prstGeom prst="ellipse">
            <a:avLst/>
          </a:prstGeom>
          <a:solidFill>
            <a:srgbClr val="8C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88136" y="4846320"/>
            <a:ext cx="28011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수집 · 저장 구조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2375" y="5221224"/>
            <a:ext cx="3166871" cy="96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챗봇 답변과 추천 이유(습관 · 식단) 모두에 👍/👎를 받아 전용 테이블에 저장</a:t>
            </a:r>
          </a:p>
          <a:p>
            <a:pPr algn="l" latinLnBrk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같은 피드백을 Langfuse trace에 점수로 붙여 대화 맥락과 함께 조회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309872" y="4700016"/>
            <a:ext cx="3569207" cy="1572768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4511039" y="4837176"/>
            <a:ext cx="274320" cy="274320"/>
          </a:xfrm>
          <a:prstGeom prst="ellipse">
            <a:avLst/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76800" y="4846320"/>
            <a:ext cx="28011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반복 재현성 측정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511039" y="5221224"/>
            <a:ext cx="3166871" cy="96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5문항 x 5회 x 2프로세스 — 규칙 기반 해석과 벡터 검색이 유사도 점수까지 완전 일치</a:t>
            </a:r>
          </a:p>
          <a:p>
            <a:pPr algn="l" latinLnBrk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임계값 0.40 경계 0.2% 문서도 10회 내내 안 뒤바뀜, 출처 목록 5/5 일치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098535" y="4700016"/>
            <a:ext cx="3569207" cy="1572768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8299704" y="4837176"/>
            <a:ext cx="274320" cy="274320"/>
          </a:xfrm>
          <a:prstGeom prst="ellipse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665464" y="4846320"/>
            <a:ext cx="28011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체감한 한계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299704" y="5221224"/>
            <a:ext cx="3166871" cy="96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편차 원인까지 특정했으나 현 코퍼스(논문 740건)로는 답변 품질 개선 프로세스 구축에 한계</a:t>
            </a:r>
          </a:p>
          <a:p>
            <a:pPr algn="l" latinLnBrk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· 논문 · 기사 · 관련 데이터 확충으로 검색 품질을 통한 답변 품질 향상을 기대</a:t>
            </a:r>
          </a:p>
        </p:txBody>
      </p:sp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5147</Words>
  <Application>Microsoft Office PowerPoint</Application>
  <PresentationFormat>와이드스크린</PresentationFormat>
  <Paragraphs>772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맑은 고딕</vt:lpstr>
      <vt:lpstr>맑은 고딕 Semilight</vt:lpstr>
      <vt:lpstr>세방고딕 Bold</vt:lpstr>
      <vt:lpstr>세방고딕 Regular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EunHo Lee</cp:lastModifiedBy>
  <cp:revision>22</cp:revision>
  <dcterms:created xsi:type="dcterms:W3CDTF">2023-12-20T03:00:25Z</dcterms:created>
  <dcterms:modified xsi:type="dcterms:W3CDTF">2026-08-02T03:03:43Z</dcterms:modified>
</cp:coreProperties>
</file>